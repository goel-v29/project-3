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62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9" r:id="rId6"/>
    <p:sldId id="270" r:id="rId7"/>
    <p:sldId id="271" r:id="rId8"/>
    <p:sldId id="275" r:id="rId9"/>
    <p:sldId id="274" r:id="rId10"/>
    <p:sldId id="273" r:id="rId11"/>
    <p:sldId id="268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2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50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0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020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3185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518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94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7156"/>
            <a:ext cx="3875627" cy="24003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982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6393" y="4677156"/>
            <a:ext cx="3827797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80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3212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549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8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3352" y="723519"/>
            <a:ext cx="5797296" cy="89154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9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2" y="-33854"/>
            <a:ext cx="9144000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 0"/>
          <p:cNvSpPr/>
          <p:nvPr/>
        </p:nvSpPr>
        <p:spPr>
          <a:xfrm>
            <a:off x="530352" y="457200"/>
            <a:ext cx="808329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Exploratory Data Analysis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38725" y="1533862"/>
            <a:ext cx="808329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45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 Estate Pricing Analysis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530352" y="2240280"/>
            <a:ext cx="8083296" cy="316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95"/>
              </a:lnSpc>
              <a:buNone/>
            </a:pPr>
            <a:r>
              <a:rPr lang="en-US" sz="1560" dirty="0">
                <a:solidFill>
                  <a:srgbClr val="E0E7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Understanding Price Dynamics in the Housing Market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530352" y="8945999"/>
            <a:ext cx="8083296" cy="271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4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NextHikes IT Solutions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530352" y="9400818"/>
            <a:ext cx="8083296" cy="246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40"/>
              </a:lnSpc>
              <a:buNone/>
            </a:pPr>
            <a:r>
              <a:rPr lang="en-US" sz="1140" dirty="0">
                <a:solidFill>
                  <a:srgbClr val="E0E7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January 2026</a:t>
            </a:r>
            <a:endParaRPr lang="en-US" sz="114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F8964-CFDE-0EAD-8CE6-B35F98B16CFC}"/>
              </a:ext>
            </a:extLst>
          </p:cNvPr>
          <p:cNvSpPr txBox="1"/>
          <p:nvPr/>
        </p:nvSpPr>
        <p:spPr>
          <a:xfrm>
            <a:off x="530352" y="2736427"/>
            <a:ext cx="7943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NEXTHIKE IT SOLUTIONS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</a:rPr>
              <a:t>VANSHIKA GOEL : DATA SCIENCE INTERN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75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745"/>
              </a:lnSpc>
              <a:buNone/>
            </a:pPr>
            <a:r>
              <a:rPr lang="en-US" sz="2880" b="1" dirty="0">
                <a:solidFill>
                  <a:srgbClr val="1A365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Problem Statement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609600" y="1176550"/>
            <a:ext cx="7696200" cy="2562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Identify key variables affecting house prices in real estate market .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Understand patterns, correlations, and trends.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Provide actionable recommendations for pricing strategy.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Enable informed decision-making for property acquisition and sales.</a:t>
            </a:r>
            <a:endParaRPr lang="en-US" sz="12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Determine optimal pricing strategies through data analysis.</a:t>
            </a:r>
            <a:endParaRPr lang="en-US" sz="12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430"/>
              </a:lnSpc>
              <a:buSzPct val="100000"/>
            </a:pPr>
            <a:endParaRPr lang="en-US" sz="12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457200"/>
            <a:ext cx="8083296" cy="475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745"/>
              </a:lnSpc>
              <a:buNone/>
            </a:pPr>
            <a:r>
              <a:rPr lang="en-US" sz="2880" b="1" dirty="0">
                <a:solidFill>
                  <a:srgbClr val="1A365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Data Cleaning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23900" y="934482"/>
            <a:ext cx="7696200" cy="18895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2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Missing Values:</a:t>
            </a: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Identified and handled appropriately using imputation or removal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ts val="26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2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Duplicates:</a:t>
            </a: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Removed duplicate entries to ensure data integrity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ts val="26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2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Anomalies:</a:t>
            </a: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Addressed inconsistencies and outliers in the dataset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ts val="26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2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Data Validation:</a:t>
            </a: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Ensured data types and formats are correct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ts val="26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2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Normalization:</a:t>
            </a:r>
            <a:r>
              <a:rPr lang="en-US" sz="132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Standardized values where necessary for analysis</a:t>
            </a:r>
            <a:endParaRPr lang="en-US" sz="132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65910" y="3046915"/>
            <a:ext cx="7578090" cy="2978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45"/>
              </a:lnSpc>
              <a:buNone/>
            </a:pPr>
            <a:r>
              <a:rPr lang="en-US" sz="1380" b="1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Result:</a:t>
            </a:r>
            <a:r>
              <a:rPr lang="en-US" sz="138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0"/>
              </a:rPr>
              <a:t> Clean, reliable dataset ready for comprehensive exploratory analysis</a:t>
            </a:r>
            <a:endParaRPr lang="en-US" sz="138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3277" y="185857"/>
            <a:ext cx="8083296" cy="475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45"/>
              </a:lnSpc>
              <a:buNone/>
            </a:pPr>
            <a:r>
              <a:rPr lang="en-US" sz="2880" b="1" dirty="0">
                <a:solidFill>
                  <a:srgbClr val="1A365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Univariate Analysis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335649" y="3936360"/>
            <a:ext cx="3897684" cy="8794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80"/>
              </a:lnSpc>
              <a:buSzPct val="100000"/>
              <a:buChar char="•"/>
            </a:pPr>
            <a:r>
              <a:rPr lang="en-US" sz="114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Majority of properties is affordable to mid-range segment</a:t>
            </a:r>
            <a:endParaRPr lang="en-US" sz="1140" dirty="0">
              <a:solidFill>
                <a:srgbClr val="002060"/>
              </a:solidFill>
            </a:endParaRPr>
          </a:p>
          <a:p>
            <a:pPr marL="342900" indent="-342900">
              <a:lnSpc>
                <a:spcPts val="2280"/>
              </a:lnSpc>
              <a:buSzPct val="100000"/>
              <a:buChar char="•"/>
            </a:pPr>
            <a:r>
              <a:rPr lang="en-US" sz="1140" dirty="0">
                <a:solidFill>
                  <a:srgbClr val="00206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Outliers represent premium luxury properties.</a:t>
            </a:r>
            <a:endParaRPr lang="en-US" sz="114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DEAAF-E079-9C8A-4328-FA873A8F5C3C}"/>
              </a:ext>
            </a:extLst>
          </p:cNvPr>
          <p:cNvSpPr txBox="1"/>
          <p:nvPr/>
        </p:nvSpPr>
        <p:spPr>
          <a:xfrm>
            <a:off x="483277" y="3481493"/>
            <a:ext cx="25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</a:t>
            </a:r>
            <a:r>
              <a:rPr lang="en-GB" b="1" dirty="0">
                <a:solidFill>
                  <a:srgbClr val="002060"/>
                </a:solidFill>
              </a:rPr>
              <a:t> 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191AD7-BD4D-6EBF-E27C-9C7BF79C4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070" y="769636"/>
            <a:ext cx="3643746" cy="23867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483543-3633-3FB2-25FC-848563B36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1" y="769636"/>
            <a:ext cx="3643746" cy="24347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575F77-2706-DFBE-D0C0-601A40B1BB41}"/>
              </a:ext>
            </a:extLst>
          </p:cNvPr>
          <p:cNvSpPr txBox="1"/>
          <p:nvPr/>
        </p:nvSpPr>
        <p:spPr>
          <a:xfrm>
            <a:off x="5064760" y="3440853"/>
            <a:ext cx="1496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</a:t>
            </a: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7B0A6-2764-6941-1B14-826AC918D600}"/>
              </a:ext>
            </a:extLst>
          </p:cNvPr>
          <p:cNvSpPr txBox="1"/>
          <p:nvPr/>
        </p:nvSpPr>
        <p:spPr>
          <a:xfrm>
            <a:off x="5064760" y="3936360"/>
            <a:ext cx="3501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Distribution is slightly right-skewed.</a:t>
            </a:r>
          </a:p>
          <a:p>
            <a:endParaRPr lang="en-GB" sz="11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Most houses have moderate living area.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FDE68-DC2A-889C-642F-B03E5D3FD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033" y="912125"/>
            <a:ext cx="4978312" cy="27725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101054-B558-8AB9-3391-3641E4C930A5}"/>
              </a:ext>
            </a:extLst>
          </p:cNvPr>
          <p:cNvSpPr txBox="1"/>
          <p:nvPr/>
        </p:nvSpPr>
        <p:spPr>
          <a:xfrm>
            <a:off x="142240" y="209973"/>
            <a:ext cx="696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>
                <a:solidFill>
                  <a:srgbClr val="002060"/>
                </a:solidFill>
              </a:rPr>
              <a:t>Visualising the houses on the basis of number of bedrooms </a:t>
            </a:r>
            <a:endParaRPr lang="en-IN" b="1" u="sng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A0B6E-A93E-63F0-BC72-868D86F100D4}"/>
              </a:ext>
            </a:extLst>
          </p:cNvPr>
          <p:cNvSpPr txBox="1"/>
          <p:nvPr/>
        </p:nvSpPr>
        <p:spPr>
          <a:xfrm>
            <a:off x="270933" y="1307253"/>
            <a:ext cx="32376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Insights </a:t>
            </a:r>
          </a:p>
          <a:p>
            <a:endParaRPr lang="en-GB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Mostly houses have 2- 4 Bedrooms , indicating standard residential layouts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85 % houses have 2-4 Bedrooms </a:t>
            </a:r>
            <a:endParaRPr lang="en-GB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83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8A679-7D73-4535-9C0D-8A6A4194C7E7}"/>
              </a:ext>
            </a:extLst>
          </p:cNvPr>
          <p:cNvSpPr txBox="1"/>
          <p:nvPr/>
        </p:nvSpPr>
        <p:spPr>
          <a:xfrm>
            <a:off x="1767841" y="237067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Arial Black" panose="020B0A04020102020204" pitchFamily="34" charset="0"/>
              </a:rPr>
              <a:t>Bivariate Analysis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17BB6-1EC9-2D94-BECE-1E5BEF7E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560" y="1121172"/>
            <a:ext cx="5232240" cy="31731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8F063B-6C4D-9363-A920-8FAEB76CB9B9}"/>
              </a:ext>
            </a:extLst>
          </p:cNvPr>
          <p:cNvSpPr txBox="1"/>
          <p:nvPr/>
        </p:nvSpPr>
        <p:spPr>
          <a:xfrm>
            <a:off x="88053" y="751840"/>
            <a:ext cx="724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solidFill>
                  <a:srgbClr val="002060"/>
                </a:solidFill>
              </a:rPr>
              <a:t>Analysing relationship between living area and house price.</a:t>
            </a:r>
            <a:endParaRPr lang="en-IN" b="1" u="sng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BBE48-C566-866C-88F0-743E1645A067}"/>
              </a:ext>
            </a:extLst>
          </p:cNvPr>
          <p:cNvSpPr txBox="1"/>
          <p:nvPr/>
        </p:nvSpPr>
        <p:spPr>
          <a:xfrm>
            <a:off x="223520" y="1354667"/>
            <a:ext cx="34273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 price increases as living area increases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few large houses have lower prices, indicating 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0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774F1-FAC1-3E32-F76A-05C5CD3D2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12" y="710539"/>
            <a:ext cx="4150862" cy="252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33B45-546D-7A8B-394C-E789776D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26" y="755413"/>
            <a:ext cx="4124079" cy="2431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9AF43E-08FD-D9B1-57DD-2894EBA1E10B}"/>
              </a:ext>
            </a:extLst>
          </p:cNvPr>
          <p:cNvSpPr txBox="1"/>
          <p:nvPr/>
        </p:nvSpPr>
        <p:spPr>
          <a:xfrm>
            <a:off x="1056640" y="277707"/>
            <a:ext cx="379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Arial Black" panose="020B0A04020102020204" pitchFamily="34" charset="0"/>
              </a:rPr>
              <a:t>Bedrooms Impact </a:t>
            </a:r>
            <a:endParaRPr lang="en-IN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E19B2-82DA-8F46-692C-765E288B5646}"/>
              </a:ext>
            </a:extLst>
          </p:cNvPr>
          <p:cNvSpPr txBox="1"/>
          <p:nvPr/>
        </p:nvSpPr>
        <p:spPr>
          <a:xfrm>
            <a:off x="5560906" y="221722"/>
            <a:ext cx="322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Arial Black" panose="020B0A04020102020204" pitchFamily="34" charset="0"/>
              </a:rPr>
              <a:t>Garage Influence </a:t>
            </a:r>
            <a:endParaRPr lang="en-IN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58266-E5A3-29B3-AD44-D67E0F0B61A3}"/>
              </a:ext>
            </a:extLst>
          </p:cNvPr>
          <p:cNvSpPr txBox="1"/>
          <p:nvPr/>
        </p:nvSpPr>
        <p:spPr>
          <a:xfrm>
            <a:off x="494764" y="3295147"/>
            <a:ext cx="389564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</a:t>
            </a:r>
          </a:p>
          <a:p>
            <a:r>
              <a:rPr lang="en-GB" sz="1600" b="1" dirty="0"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3-4 Bedrooms show the highest and most stable sale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More than 5 bedrooms often lead to unpredictable pricing with wide variation.</a:t>
            </a:r>
            <a:endParaRPr lang="en-IN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B0CA-64FC-0AE2-3C03-FF91097A83A4}"/>
              </a:ext>
            </a:extLst>
          </p:cNvPr>
          <p:cNvSpPr txBox="1"/>
          <p:nvPr/>
        </p:nvSpPr>
        <p:spPr>
          <a:xfrm>
            <a:off x="4856480" y="3295147"/>
            <a:ext cx="39944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 </a:t>
            </a:r>
          </a:p>
          <a:p>
            <a:endParaRPr lang="en-GB" sz="16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 prices increases steadily with garage capacity up to 3 cars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4-car garages show luxury pricing but with high variability and outliers .</a:t>
            </a:r>
          </a:p>
          <a:p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960545-4319-3CA9-3AAF-193B61A5A40C}"/>
              </a:ext>
            </a:extLst>
          </p:cNvPr>
          <p:cNvCxnSpPr/>
          <p:nvPr/>
        </p:nvCxnSpPr>
        <p:spPr>
          <a:xfrm>
            <a:off x="4572000" y="0"/>
            <a:ext cx="60960" cy="5234139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1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1F147D-B2CB-30FF-A664-91002E63F5FB}"/>
              </a:ext>
            </a:extLst>
          </p:cNvPr>
          <p:cNvSpPr txBox="1"/>
          <p:nvPr/>
        </p:nvSpPr>
        <p:spPr>
          <a:xfrm>
            <a:off x="2153920" y="162560"/>
            <a:ext cx="4016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Arial Black" panose="020B0A04020102020204" pitchFamily="34" charset="0"/>
              </a:rPr>
              <a:t>Multivariate Analysis 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9C7A2-F1D4-07E4-82E4-30BC3933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666" y="758848"/>
            <a:ext cx="4893226" cy="3508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7B088-3A40-33B3-2D58-76AD0573B34B}"/>
              </a:ext>
            </a:extLst>
          </p:cNvPr>
          <p:cNvSpPr txBox="1"/>
          <p:nvPr/>
        </p:nvSpPr>
        <p:spPr>
          <a:xfrm>
            <a:off x="277706" y="975595"/>
            <a:ext cx="320378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</a:t>
            </a:r>
            <a:r>
              <a:rPr lang="en-GB" dirty="0">
                <a:solidFill>
                  <a:srgbClr val="002060"/>
                </a:solidFill>
              </a:rPr>
              <a:t> 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 prices increases with larger living area across all bedroom counts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3-4 Bedroom homes dominate mid to high price range , showing strong market preference .</a:t>
            </a:r>
          </a:p>
        </p:txBody>
      </p:sp>
    </p:spTree>
    <p:extLst>
      <p:ext uri="{BB962C8B-B14F-4D97-AF65-F5344CB8AC3E}">
        <p14:creationId xmlns:p14="http://schemas.microsoft.com/office/powerpoint/2010/main" val="749039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1D007-0530-F6C8-D7E3-35892ABF6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1" y="579305"/>
            <a:ext cx="3181016" cy="24173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70E9E-066E-C5BB-51EE-E8CDF6D2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452" y="701230"/>
            <a:ext cx="3107191" cy="24173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76B84D-D943-5854-B977-26EE6504DEF0}"/>
              </a:ext>
            </a:extLst>
          </p:cNvPr>
          <p:cNvSpPr txBox="1"/>
          <p:nvPr/>
        </p:nvSpPr>
        <p:spPr>
          <a:xfrm>
            <a:off x="460587" y="209973"/>
            <a:ext cx="340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Arial Black" panose="020B0A04020102020204" pitchFamily="34" charset="0"/>
              </a:rPr>
              <a:t>Amenities Correlation </a:t>
            </a:r>
            <a:endParaRPr lang="en-IN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3B4DC-0230-0501-51B8-AE3B1D5C8EA4}"/>
              </a:ext>
            </a:extLst>
          </p:cNvPr>
          <p:cNvSpPr txBox="1"/>
          <p:nvPr/>
        </p:nvSpPr>
        <p:spPr>
          <a:xfrm>
            <a:off x="5141814" y="209973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Arial Black" panose="020B0A04020102020204" pitchFamily="34" charset="0"/>
              </a:rPr>
              <a:t>Key Feature Correlation</a:t>
            </a:r>
            <a:endParaRPr lang="en-IN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D7B29-DC95-E0C8-E151-F397FF60D88E}"/>
              </a:ext>
            </a:extLst>
          </p:cNvPr>
          <p:cNvSpPr txBox="1"/>
          <p:nvPr/>
        </p:nvSpPr>
        <p:spPr>
          <a:xfrm>
            <a:off x="165011" y="3079611"/>
            <a:ext cx="374565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 </a:t>
            </a:r>
          </a:p>
          <a:p>
            <a:endParaRPr lang="en-GB" sz="16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Garage area and basement size show strong positive correlation with sale price ( 0.62 and 0.61)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Fireplaces have moderate impact (0.47), suggesting aesthetic features but less than space .</a:t>
            </a:r>
            <a:endParaRPr lang="en-IN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7BFAD-65A8-E7C3-E510-52DA85BB0913}"/>
              </a:ext>
            </a:extLst>
          </p:cNvPr>
          <p:cNvSpPr txBox="1"/>
          <p:nvPr/>
        </p:nvSpPr>
        <p:spPr>
          <a:xfrm>
            <a:off x="4971627" y="3176693"/>
            <a:ext cx="374565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</a:rPr>
              <a:t>Insights </a:t>
            </a:r>
          </a:p>
          <a:p>
            <a:endParaRPr lang="en-GB" sz="16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Overall quality and living area are top predictors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Garage size and basement area also add strong value .</a:t>
            </a:r>
            <a:endParaRPr lang="en-IN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F119C7-B3E2-032B-8859-1E84750C2BFF}"/>
              </a:ext>
            </a:extLst>
          </p:cNvPr>
          <p:cNvCxnSpPr/>
          <p:nvPr/>
        </p:nvCxnSpPr>
        <p:spPr>
          <a:xfrm>
            <a:off x="4260427" y="0"/>
            <a:ext cx="60960" cy="51435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09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41F34-204C-61EF-CD43-9C945ED32D47}"/>
              </a:ext>
            </a:extLst>
          </p:cNvPr>
          <p:cNvSpPr txBox="1"/>
          <p:nvPr/>
        </p:nvSpPr>
        <p:spPr>
          <a:xfrm>
            <a:off x="1801708" y="291253"/>
            <a:ext cx="534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9C734-14A5-2147-4628-1DA106EBEFD9}"/>
              </a:ext>
            </a:extLst>
          </p:cNvPr>
          <p:cNvSpPr txBox="1"/>
          <p:nvPr/>
        </p:nvSpPr>
        <p:spPr>
          <a:xfrm>
            <a:off x="657013" y="937584"/>
            <a:ext cx="552704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Size is King:</a:t>
            </a:r>
            <a:r>
              <a:rPr lang="en-US" sz="14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 Living area strongest predictor</a:t>
            </a: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ea typeface="Arial" pitchFamily="34" charset="-122"/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Amenities Matter:</a:t>
            </a:r>
            <a:r>
              <a:rPr lang="en-US" sz="14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 Significant price premiums</a:t>
            </a: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ea typeface="Arial" pitchFamily="34" charset="-122"/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Market Focus:</a:t>
            </a:r>
            <a:r>
              <a:rPr lang="en-US" sz="14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 Mid-range drives opportunity</a:t>
            </a: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Garages are valuable</a:t>
            </a:r>
            <a:r>
              <a:rPr lang="en-US" sz="14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 — Parking = premium pricing</a:t>
            </a: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Combined effect</a:t>
            </a:r>
            <a:r>
              <a:rPr lang="en-US" sz="1400" dirty="0">
                <a:solidFill>
                  <a:srgbClr val="002060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 — Features work together to set price</a:t>
            </a:r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329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3559" y="8706687"/>
            <a:ext cx="1716762" cy="1123117"/>
          </a:xfrm>
          <a:prstGeom prst="rect">
            <a:avLst/>
          </a:prstGeom>
          <a:noFill/>
          <a:ln w="15240">
            <a:solidFill>
              <a:srgbClr val="E0E7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598507" y="900853"/>
            <a:ext cx="5852160" cy="182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683761" y="1249682"/>
            <a:ext cx="1776479" cy="336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560" dirty="0">
                <a:solidFill>
                  <a:srgbClr val="E0E7FF"/>
                </a:solidFill>
                <a:latin typeface="Segoe UI" panose="020B0502040204020203" pitchFamily="34" charset="0"/>
                <a:cs typeface="Segoe UI" panose="020B0502040204020203" pitchFamily="34" charset="-120"/>
              </a:rPr>
              <a:t> 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3696392" y="9026723"/>
            <a:ext cx="1751097" cy="2849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5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NextHikes IT Solutions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3696392" y="9387846"/>
            <a:ext cx="1751097" cy="259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January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114</TotalTime>
  <Words>418</Words>
  <Application>Microsoft Office PowerPoint</Application>
  <PresentationFormat>On-screen Show (16:9)</PresentationFormat>
  <Paragraphs>91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Gill Sans MT</vt:lpstr>
      <vt:lpstr>Segoe UI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VANSHIKA GOEL</cp:lastModifiedBy>
  <cp:revision>5</cp:revision>
  <dcterms:created xsi:type="dcterms:W3CDTF">2026-01-07T12:50:00Z</dcterms:created>
  <dcterms:modified xsi:type="dcterms:W3CDTF">2026-01-25T11:57:02Z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A3D0D876CAB54A97BCC1FE99E878531C_12</vt:lpwstr>
  </property>
  <property fmtid="{D5CDD505-2E9C-101B-9397-08002B2CF9AE}" pid="3" name="KSOProductBuildVer">
    <vt:lpwstr>1033-12.2.0.23196</vt:lpwstr>
  </property>
</Properties>
</file>